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0742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Fill every field exactly as entered in the online application form so reviewers can match the deck to the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Reviewers look for a clearly defined, real and significant problem backed by evidence. One strong statistic is better than many weak ones. Cite the source for every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clearly how the solution addresses the problem on Slide 2. Compare against what exists today — reviewers score originality and relevance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realistic. A clear, costed plan with an identified adopting department scores better than an ambitious but vague one. Mention any validation already done (tests, user feedback, certifications).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Quantify impact wherever possible and state your assumptions. Where relevant, link the solution to an existing Government scheme, mission or the Sustainable Development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only active team members. Be specific about the support requested — it helps the organisers match you with the right mentor, department or incubator.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0" kern="0" spc="200" dirty="0" i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•  URBAN DEVELOPMENT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 i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Jal-drishti AI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0" dirty="0" b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Every stretch of a city's rivers and lakes, checked from space each month: where to take water samples, and whether a cleanup worked. For MPCB and city corporations.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777240"/>
            <a:ext cx="2834640" cy="3108960"/>
          </a:xfrm>
          <a:prstGeom prst="roundRect">
            <a:avLst>
              <a:gd name="adj" fmla="val 3226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035040" y="914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 i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Working prototype</a:t>
            </a:r>
            <a:endParaRPr lang="en-US" sz="13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F28C28"/>
                </a:solidFill>
                <a:latin typeface="Nirmala UI"/>
              </a:rPr>
              <a:t>Sub-theme: Sewage, urban water pollution and wastewater reuse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03320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FFFFFF"/>
                </a:solidFill>
                <a:latin typeface="Nirmala UI"/>
              </a:rPr>
              <a:t>Sujal Chondekar  ·  Kshitij Mehrotra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C9D2EC"/>
                </a:solidFill>
                <a:latin typeface="Nirmala UI"/>
              </a:rPr>
              <a:t>Mentor: Dr. Swati Hira, Assistant Professor, CSE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C9D2EC"/>
                </a:solidFill>
                <a:latin typeface="Nirmala UI"/>
              </a:rPr>
              <a:t>Indian Institute of Information Technology, Nagpur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280160"/>
            <a:ext cx="2468880" cy="1009672"/>
          </a:xfrm>
          <a:prstGeom prst="rect">
            <a:avLst/>
          </a:prstGeom>
          <a:ln>
            <a:solidFill>
              <a:srgbClr val="3A4A7A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6035040" y="2426992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FFFFFF"/>
                </a:solidFill>
                <a:latin typeface="Nirmala UI"/>
              </a:rPr>
              <a:t>• 158 river and lake stretches in Pune, 24 months, in ~1.5 min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FFFFFF"/>
                </a:solidFill>
                <a:latin typeface="Nirmala UI"/>
              </a:rPr>
              <a:t>• Sentinel-2, method after NASA ARSET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Nirmala UI"/>
              </a:rPr>
              <a:t>Live demo: </a:t>
            </a:r>
            <a:r>
              <a:rPr sz="1000" b="1">
                <a:solidFill>
                  <a:srgbClr val="F28C28"/>
                </a:solidFill>
                <a:latin typeface="Nirmala UI"/>
              </a:rPr>
              <a:t>[deployment link]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real challenge in society, government service or industry are you solving?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2 of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9436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is the problem?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57276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About half of the sewage from Maharashtra's cities reaches rivers </a:t>
            </a:r>
            <a:r>
              <a:rPr lang="en-US" sz="10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untreated</a:t>
            </a:r>
            <a:r>
              <a:rPr lang="en-US" sz="10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. Pollution is checked by hand: </a:t>
            </a:r>
            <a:r>
              <a:rPr lang="en-US" sz="10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one sample a month</a:t>
            </a:r>
            <a:r>
              <a:rPr lang="en-US" sz="10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at fixed stations, so no one sees where a river turns bad between them, or whether cleanups worked.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52044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Who is affected, and where?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157276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People living along Maharashtra's </a:t>
            </a:r>
            <a:r>
              <a:rPr lang="en-US" sz="10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54 polluted river stretches</a:t>
            </a:r>
            <a:r>
              <a:rPr lang="en-US" sz="10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: Mumbai region (Mithi, Ulhas), Pune (Mula-Mutha), Nagpur (Nag) and more. Also the city corporations, MPCB and NGT, who need evidence to act and to check contractors.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94360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3558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8016" indent="-128016">
              <a:spcAft>
                <a:spcPts val="300"/>
              </a:spcAft>
              <a:buChar char="•"/>
            </a:pPr>
            <a:r>
              <a:rPr lang="en-US" sz="9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~4,250 MLD</a:t>
            </a: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of sewage untreated every day (9,271 made, 5,024 treated; MPCB, Dec 2025)</a:t>
            </a:r>
            <a:endParaRPr lang="en-US" sz="1000" dirty="0"/>
          </a:p>
          <a:p>
            <a:pPr marL="128016" indent="-128016">
              <a:spcAft>
                <a:spcPts val="300"/>
              </a:spcAft>
              <a:buChar char="•"/>
            </a:pPr>
            <a:r>
              <a:rPr lang="en-US" sz="9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54 polluted stretches</a:t>
            </a: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, the most of any state (CPCB 2025)</a:t>
            </a:r>
          </a:p>
          <a:p>
            <a:pPr marL="128016" indent="-128016">
              <a:spcAft>
                <a:spcPts val="300"/>
              </a:spcAft>
              <a:buChar char="•"/>
            </a:pP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Pune: </a:t>
            </a:r>
            <a:r>
              <a:rPr lang="en-US" sz="9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₹8 cr</a:t>
            </a: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spent on hyacinth removal, yet it persists; payments disputed (2026)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3520440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Current gaps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33558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8016" indent="-128016">
              <a:spcAft>
                <a:spcPts val="300"/>
              </a:spcAft>
              <a:buChar char="•"/>
            </a:pPr>
            <a:r>
              <a:rPr lang="en-US" sz="9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Monthly samples</a:t>
            </a: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at ~173 river stations: one point every many km</a:t>
            </a:r>
            <a:endParaRPr lang="en-US" sz="1000" dirty="0"/>
          </a:p>
          <a:p>
            <a:pPr marL="128016" indent="-128016">
              <a:spcAft>
                <a:spcPts val="300"/>
              </a:spcAft>
              <a:buChar char="•"/>
            </a:pPr>
            <a:r>
              <a:rPr lang="en-US" sz="9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Lab results</a:t>
            </a: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come weeks later; no picture between stations</a:t>
            </a:r>
          </a:p>
          <a:p>
            <a:pPr marL="128016" indent="-128016">
              <a:spcAft>
                <a:spcPts val="300"/>
              </a:spcAft>
              <a:buChar char="•"/>
            </a:pPr>
            <a:r>
              <a:rPr lang="en-US" sz="9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No independent check</a:t>
            </a: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that hyacinth removal or new STPs improved the river</a:t>
            </a:r>
          </a:p>
        </p:txBody>
      </p:sp>
      <p:sp>
        <p:nvSpPr>
          <p:cNvPr id="19" name="Shape 17"/>
          <p:cNvSpPr/>
          <p:nvPr/>
        </p:nvSpPr>
        <p:spPr>
          <a:xfrm>
            <a:off x="6309360" y="1188720"/>
            <a:ext cx="2377440" cy="3429000"/>
          </a:xfrm>
          <a:prstGeom prst="roundRect">
            <a:avLst>
              <a:gd name="adj" fmla="val 3846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400800" y="1508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400" b="1" dirty="0" i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4,250 MLD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286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50" i="0" dirty="0" b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of sewage reaches Maharashtra's rivers untreated, every day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383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i="0" dirty="0" b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Dirty water flows on to homes, farms and fish downstream, and crores go into cleanups that no one can independently check.</a:t>
            </a:r>
            <a:endParaRPr lang="en-US" sz="1000" dirty="0"/>
          </a:p>
        </p:txBody>
      </p:sp>
      <p:sp>
        <p:nvSpPr>
          <p:cNvPr id="24" name="Sources"/>
          <p:cNvSpPr txBox="1"/>
          <p:nvPr/>
        </p:nvSpPr>
        <p:spPr>
          <a:xfrm>
            <a:off x="457200" y="4663440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>
                <a:solidFill>
                  <a:srgbClr val="6B7280"/>
                </a:solidFill>
                <a:latin typeface="Nirmala UI"/>
              </a:rPr>
              <a:t>Sources: MPCB monthly progress report, Dec 2025; CPCB polluted river stretches 2025 (via Drishti IAS); MPCB water bulletin, Jan 2026; Punekar News, Jun 2026; Free Press Journal,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Our Solution &amp; Innovation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have you built or designed, how does it work, and what is new about it?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3 of 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Our solution in brief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8132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Jal-drishti AI</a:t>
            </a: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checks every ~1 km of a city's rivers and lakes each month: </a:t>
            </a:r>
            <a:r>
              <a:rPr lang="en-US" sz="9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weed, turbidity and algae</a:t>
            </a: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vs normal, so boards know </a:t>
            </a:r>
            <a:r>
              <a:rPr lang="en-US" sz="9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where to sample</a:t>
            </a: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and if cleanups worked.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595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595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</a:t>
            </a:r>
            <a:endParaRPr lang="en-US" sz="112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Input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8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 city, or any river or lake outline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627632" y="3291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8288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2311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22311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</a:t>
            </a:r>
            <a:endParaRPr lang="en-US" sz="1120" dirty="0"/>
          </a:p>
        </p:txBody>
      </p:sp>
      <p:sp>
        <p:nvSpPr>
          <p:cNvPr id="19" name="Text 17"/>
          <p:cNvSpPr txBox="1"/>
          <p:nvPr/>
        </p:nvSpPr>
        <p:spPr>
          <a:xfrm>
            <a:off x="19019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Process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8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Finds the channel; measures weed, turbidity and chlorophyll monthly vs 2019-2023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999232" y="3291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2004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027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36027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</a:t>
            </a:r>
            <a:endParaRPr lang="en-US" sz="1120" dirty="0"/>
          </a:p>
        </p:txBody>
      </p:sp>
      <p:sp>
        <p:nvSpPr>
          <p:cNvPr id="25" name="Text 23"/>
          <p:cNvSpPr txBox="1"/>
          <p:nvPr/>
        </p:nvSpPr>
        <p:spPr>
          <a:xfrm>
            <a:off x="32735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Output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2918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8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Stretch map, sample-first list, cleanup check, PDF and KML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makes it new?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36192"/>
          <a:ext cx="3931920" cy="19202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Existing approach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Our approach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 i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Cost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0" dirty="0" b="0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Field trips and lab tests per station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0" dirty="0" b="1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Free open satellite data; one small server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 i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Speed / time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0" dirty="0" b="0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One sample a month; results weeks later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0" dirty="0" b="1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A whole city in ~1.5 min; new image every 5 days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 i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Reach / access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0" dirty="0" b="0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~173 river points for the whole state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0" dirty="0" b="1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Every ~1 km stretch: 158 in Pune alone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 i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Ease of use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0" dirty="0" b="0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Lab reports, no map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0" dirty="0" b="1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Web map, ranked list, before/after check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4754880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Key USP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754880" y="3886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Independent, repeatable evidence for cleanups. It shows Pune's floating weed rising from </a:t>
            </a:r>
            <a:r>
              <a:rPr lang="en-US" sz="9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~6% to ~29%</a:t>
            </a: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of river water every dry season in </a:t>
            </a:r>
            <a:r>
              <a:rPr lang="en-US" sz="9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both 2025 and 2026</a:t>
            </a: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: the before/after check that removal contracts lack.</a:t>
            </a:r>
            <a:endParaRPr lang="en-US" sz="1000" dirty="0"/>
          </a:p>
        </p:txBody>
      </p:sp>
      <p:pic>
        <p:nvPicPr>
          <p:cNvPr id="31" name="Picture 30" descr="app_pu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1463040"/>
            <a:ext cx="1737360" cy="710510"/>
          </a:xfrm>
          <a:prstGeom prst="rect">
            <a:avLst/>
          </a:prstGeom>
          <a:ln>
            <a:solidFill>
              <a:srgbClr val="D9DEEA"/>
            </a:solidFill>
          </a:ln>
        </p:spPr>
      </p:pic>
      <p:sp>
        <p:nvSpPr>
          <p:cNvPr id="32" name="TextBox 31"/>
          <p:cNvSpPr txBox="1"/>
          <p:nvPr/>
        </p:nvSpPr>
        <p:spPr>
          <a:xfrm>
            <a:off x="2651760" y="2200982"/>
            <a:ext cx="17373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Nirmala UI"/>
              </a:rPr>
              <a:t>Working prototype: Pune rivers, Oct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4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Feasibility &amp; Implementation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How ready is the solution, and what will it take to implement it on the ground?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4 of 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70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Current stage (mark ✔ where you are today)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783080"/>
            <a:ext cx="7315200" cy="0"/>
          </a:xfrm>
          <a:prstGeom prst="line">
            <a:avLst/>
          </a:prstGeom>
          <a:noFill/>
          <a:ln w="25400">
            <a:solidFill>
              <a:srgbClr val="C3CA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58952" y="1627632"/>
            <a:ext cx="310896" cy="310896"/>
          </a:xfrm>
          <a:prstGeom prst="ellipse">
            <a:avLst/>
          </a:prstGeom>
          <a:solidFill>
            <a:srgbClr val="FBD9B5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828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Idea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87752" y="1627632"/>
            <a:ext cx="310896" cy="310896"/>
          </a:xfrm>
          <a:prstGeom prst="ellipse">
            <a:avLst/>
          </a:prstGeom>
          <a:solidFill>
            <a:srgbClr val="FBD9B5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20116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Proof of Concept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16552" y="1627632"/>
            <a:ext cx="310896" cy="310896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8404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b="1" dirty="0" i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Working Prototype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453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6692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Field Pilot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741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4980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Ready to Deploy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Google Earth Engine</a:t>
            </a: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+ web map app</a:t>
            </a:r>
            <a:endParaRPr lang="en-US" sz="1000" dirty="0"/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Data: </a:t>
            </a: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Sentinel-2 (10-20 m), ESA WorldCover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Method: </a:t>
            </a: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NASA ARSET inland water quality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Next: </a:t>
            </a: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drone checks of hotspots; hyperspectral (EnMAP)</a:t>
            </a:r>
          </a:p>
        </p:txBody>
      </p:sp>
      <p:sp>
        <p:nvSpPr>
          <p:cNvPr id="22" name="Shape 20"/>
          <p:cNvSpPr/>
          <p:nvPr/>
        </p:nvSpPr>
        <p:spPr>
          <a:xfrm>
            <a:off x="256032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269748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Estimated cost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69748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Data: ₹0</a:t>
            </a: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(free Copernicus data)</a:t>
            </a:r>
            <a:endParaRPr lang="en-US" sz="1000" dirty="0"/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Server: ~₹5,000 / month</a:t>
            </a: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for all cities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City pilot: under ₹1 lakh</a:t>
            </a: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, mostly water samples to check the flags</a:t>
            </a:r>
          </a:p>
        </p:txBody>
      </p:sp>
      <p:sp>
        <p:nvSpPr>
          <p:cNvPr id="25" name="Shape 23"/>
          <p:cNvSpPr/>
          <p:nvPr/>
        </p:nvSpPr>
        <p:spPr>
          <a:xfrm>
            <a:off x="466344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480060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 months: </a:t>
            </a: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Pune pilot with MPCB; compare flags with lab samples and calibrate</a:t>
            </a:r>
            <a:endParaRPr lang="en-US" sz="1000" dirty="0"/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6 months: </a:t>
            </a: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Mumbai, Thane, Nagpur; monthly report card for each river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12 months: </a:t>
            </a: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all 54 polluted stretches statewide</a:t>
            </a:r>
          </a:p>
        </p:txBody>
      </p:sp>
      <p:sp>
        <p:nvSpPr>
          <p:cNvPr id="28" name="Shape 26"/>
          <p:cNvSpPr/>
          <p:nvPr/>
        </p:nvSpPr>
        <p:spPr>
          <a:xfrm>
            <a:off x="676656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90372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Partners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Maharashtra Pollution Control Board (MPCB)</a:t>
            </a:r>
            <a:endParaRPr lang="en-US" sz="1000" dirty="0"/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Pune and Pimpri-Chinchwad municipal corporations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State River Rejuvenation Authority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MRSAC, Nagpur (state remote sensing centre)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6552" y="16276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irmala UI"/>
              </a:rPr>
              <a:t>✔</a:t>
            </a:r>
          </a:p>
        </p:txBody>
      </p:sp>
      <p:sp>
        <p:nvSpPr>
          <p:cNvPr id="32" name="Demo link"/>
          <p:cNvSpPr txBox="1"/>
          <p:nvPr/>
        </p:nvSpPr>
        <p:spPr>
          <a:xfrm>
            <a:off x="4846320" y="1170432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>
                <a:solidFill>
                  <a:srgbClr val="1B2A5C"/>
                </a:solidFill>
                <a:latin typeface="Nirmala UI"/>
              </a:rPr>
              <a:t>Live prototype: </a:t>
            </a:r>
            <a:r>
              <a:rPr sz="1050" b="1">
                <a:solidFill>
                  <a:srgbClr val="F28C28"/>
                </a:solidFill>
                <a:latin typeface="Nirmala UI"/>
              </a:rPr>
              <a:t>[deployment link]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5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Impact &amp; Scalability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change will your solution create, and how can it grow beyond the first location?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5 of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48640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800" b="1" dirty="0" i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54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b="1" dirty="0" i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Polluted river stretches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00" i="0" dirty="0" b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the whole state list, checked every month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64408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355848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600" b="1" dirty="0" i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Weeks → mins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355848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b="1" dirty="0" i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Saving in time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355848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00" i="0" dirty="0" b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city screening vs monthly sampling and lab results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71616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163056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800" b="1" dirty="0" i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158 vs 2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163056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b="1" dirty="0" i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Points watched in Pune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163056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00" i="0" dirty="0" b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river stretches vs monthly sampling points on the Mula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Social impact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8872" indent="-118872">
              <a:spcAft>
                <a:spcPts val="300"/>
              </a:spcAft>
              <a:buChar char="•"/>
            </a:pP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Earlier action on weed, algae and sewage outfalls</a:t>
            </a:r>
            <a:endParaRPr lang="en-US" sz="1000" dirty="0"/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Cleaner water for people living downstream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Public, checkable evidence of cleanup spending</a:t>
            </a:r>
          </a:p>
        </p:txBody>
      </p:sp>
      <p:sp>
        <p:nvSpPr>
          <p:cNvPr id="22" name="Shape 20"/>
          <p:cNvSpPr/>
          <p:nvPr/>
        </p:nvSpPr>
        <p:spPr>
          <a:xfrm>
            <a:off x="3264408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3401568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Sustainability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401568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8872" indent="-118872">
              <a:spcAft>
                <a:spcPts val="300"/>
              </a:spcAft>
              <a:buChar char="•"/>
            </a:pP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Runs on free satellite data</a:t>
            </a:r>
            <a:endParaRPr lang="en-US" sz="1000" dirty="0"/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Low server cost fits MPCB or city budgets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Can be hosted by MRSAC; open-source code</a:t>
            </a:r>
          </a:p>
        </p:txBody>
      </p:sp>
      <p:sp>
        <p:nvSpPr>
          <p:cNvPr id="25" name="Shape 23"/>
          <p:cNvSpPr/>
          <p:nvPr/>
        </p:nvSpPr>
        <p:spPr>
          <a:xfrm>
            <a:off x="6071616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208776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Scale-up plan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208776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8872" indent="-118872">
              <a:spcAft>
                <a:spcPts val="300"/>
              </a:spcAft>
              <a:buChar char="•"/>
            </a:pP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Any Indian city: national NWMP, global data</a:t>
            </a:r>
            <a:endParaRPr lang="en-US" sz="1000" dirty="0"/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Add a city in minutes; lakes and reservoirs too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Next: drone checks of hotspots; hyperspectral types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68172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Nirmala UI"/>
              </a:rPr>
              <a:t>Sources: CPCB polluted river stretches 2025; CPCB reply in NGT OA 214/2024 (Mula sampled at two locations, monthly); Jal-drishti run for Pune, Oct 2026. Server cost is an estimate.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6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Team/Individual &amp; Support Required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Who is behind the idea, and what help do you need from the Challenge?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502920" cy="502920"/>
          </a:xfrm>
          <a:prstGeom prst="ellipse">
            <a:avLst/>
          </a:prstGeom>
          <a:solidFill>
            <a:srgbClr val="3A4C85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943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 i="0" b="1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SC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b="1" dirty="0" i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Sujal Chondekar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16093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i="0" dirty="0" b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Lead developer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1828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00" i="0" dirty="0" b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B.Tech CSE, IIIT Nagpur · satellite analysis, web app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97480" y="118872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834640" y="1371600"/>
            <a:ext cx="502920" cy="502920"/>
          </a:xfrm>
          <a:prstGeom prst="ellipse">
            <a:avLst/>
          </a:prstGeom>
          <a:solidFill>
            <a:srgbClr val="3A4C85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2834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 i="0" b="1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KM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3447288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b="1" dirty="0" i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Kshitij Mehrotra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447288" y="16093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i="0" dirty="0" b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Developer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447288" y="1828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00" i="0" dirty="0" b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B.Tech CSE, IIIT Nagpur · data and validation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94360" y="2651760"/>
            <a:ext cx="502920" cy="502920"/>
          </a:xfrm>
          <a:prstGeom prst="ellipse">
            <a:avLst/>
          </a:prstGeom>
          <a:solidFill>
            <a:srgbClr val="3A4C85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 i="0" b="1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SH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26334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b="1" dirty="0" i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Dr. Swati Hira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28895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i="0" dirty="0" b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Faculty mentor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3108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00" i="0" dirty="0" b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Assistant Professor, CSE, IIIT Nagpur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840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i="0" dirty="0" b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Indian Institute of Information Technology, Nagpur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20640" y="118872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530352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Support we are seeking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349240" y="1764792"/>
            <a:ext cx="182880" cy="182880"/>
          </a:xfrm>
          <a:prstGeom prst="rect">
            <a:avLst/>
          </a:prstGeom>
          <a:solidFill>
            <a:srgbClr val="F28C28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5669280" y="1737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Mentorship &amp; technical guidance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49240" y="2148840"/>
            <a:ext cx="182880" cy="182880"/>
          </a:xfrm>
          <a:prstGeom prst="rect">
            <a:avLst/>
          </a:prstGeom>
          <a:solidFill>
            <a:srgbClr val="F28C28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5669280" y="21214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Pilot with a government department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349240" y="2532888"/>
            <a:ext cx="182880" cy="182880"/>
          </a:xfrm>
          <a:prstGeom prst="rect">
            <a:avLst/>
          </a:prstGeom>
          <a:solidFill>
            <a:srgbClr val="F28C28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5669280" y="25054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Funding / grant support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349240" y="2916936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5669280" y="28895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Incubation &amp; workspace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349240" y="3300984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5669280" y="32735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Testing, certification or IP support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530352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 Pune pilot with MPCB and the municipal corporations would let us test the satellite flags against water samples and turn them into a monthly report card for every river.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42245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 i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Thank you  |  sujalchondhekar@gmail.com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 i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Live demo: </a:t>
            </a:r>
            <a:r>
              <a:rPr lang="en-US" sz="1050" b="1" dirty="0" i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[deployment link]</a:t>
            </a:r>
          </a:p>
        </p:txBody>
      </p:sp>
      <p:sp>
        <p:nvSpPr>
          <p:cNvPr id="45" name="Text 43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6 of 6</a:t>
            </a:r>
            <a:endParaRPr lang="en-US" sz="800" dirty="0"/>
          </a:p>
        </p:txBody>
      </p:sp>
      <p:sp>
        <p:nvSpPr>
          <p:cNvPr id="46" name="TextBox 45"/>
          <p:cNvSpPr txBox="1"/>
          <p:nvPr/>
        </p:nvSpPr>
        <p:spPr>
          <a:xfrm>
            <a:off x="5349240" y="1764792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irmala UI"/>
              </a:rPr>
              <a:t>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49240" y="2148840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irmala UI"/>
              </a:rPr>
              <a:t>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49240" y="2532888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irmala UI"/>
              </a:rPr>
              <a:t>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1008</Words>
  <Application>Microsoft Office PowerPoint</Application>
  <PresentationFormat>On-screen Show (16:9)</PresentationFormat>
  <Paragraphs>138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Nirmala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Seva Innovation Challenge – Reference Pitch Deck</dc:title>
  <dc:subject>PptxGenJS Presentation</dc:subject>
  <dc:creator>PptxGenJS</dc:creator>
  <cp:lastModifiedBy>ceo_ispark@mssu.ac.in</cp:lastModifiedBy>
  <cp:revision>4</cp:revision>
  <dcterms:created xsi:type="dcterms:W3CDTF">2026-09-23T13:40:13Z</dcterms:created>
  <dcterms:modified xsi:type="dcterms:W3CDTF">2026-09-23T13:46:30Z</dcterms:modified>
</cp:coreProperties>
</file>