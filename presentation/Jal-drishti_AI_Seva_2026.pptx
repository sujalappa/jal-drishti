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jal-drishti-enz2.onrender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jal-drishti-enz2.onrender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jal-drishti-enz2.onrender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0" kern="0" spc="200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URBAN DEVELOPMENT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Every stretch of a city's rivers and lakes, checked from space each month: where to take water samples, and whether a cleanup worked. For MPCB and city corporations.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52160" y="777240"/>
            <a:ext cx="2834640" cy="3108960"/>
          </a:xfrm>
          <a:prstGeom prst="roundRect">
            <a:avLst>
              <a:gd name="adj" fmla="val 3226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6035040" y="914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300" dirty="0"/>
          </a:p>
        </p:txBody>
      </p:sp>
      <p:sp>
        <p:nvSpPr>
          <p:cNvPr id="20" name="TextBox 19"/>
          <p:cNvSpPr txBox="1"/>
          <p:nvPr/>
        </p:nvSpPr>
        <p:spPr>
          <a:xfrm>
            <a:off x="457200" y="27432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28C28"/>
                </a:solidFill>
                <a:latin typeface="Nirmala UI"/>
              </a:rPr>
              <a:t>Sub-theme: Sewage, urban water pollution and wastewater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FFFFFF"/>
                </a:solidFill>
                <a:latin typeface="Nirmala UI"/>
              </a:rPr>
              <a:t>Sujal Chondekar  ·  Kshitij Mehrotra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Mentor: Dr. Swati Hira, Assistant Professor, CSE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C9D2EC"/>
                </a:solidFill>
                <a:latin typeface="Nirmala UI"/>
              </a:rPr>
              <a:t>Indian Institute of Information Technology, Nagpur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280160"/>
            <a:ext cx="2468880" cy="1009672"/>
          </a:xfrm>
          <a:prstGeom prst="rect">
            <a:avLst/>
          </a:prstGeom>
          <a:ln>
            <a:solidFill>
              <a:srgbClr val="3A4A7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6035040" y="2426992"/>
            <a:ext cx="2468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158 river and lake stretches in Pune, 24 months, in ~1.5 min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FFFFFF"/>
                </a:solidFill>
                <a:latin typeface="Nirmala UI"/>
              </a:rPr>
              <a:t>• Sentinel-2 images, every stretch, every month</a:t>
            </a:r>
          </a:p>
          <a:p>
            <a:pPr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Nirmala UI"/>
              </a:rPr>
              <a:t>Live demo: </a:t>
            </a:r>
            <a:r>
              <a:rPr sz="1000" b="1">
                <a:solidFill>
                  <a:srgbClr val="F28C28"/>
                </a:solidFill>
                <a:latin typeface="Nirmala UI"/>
                <a:hlinkClick r:id="rId4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About half of the sewage from Maharashtra's cities reaches rivers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untreated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. Pollution is checked by hand: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one sample a month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fixed stations, so no one sees where a river turns bad between them, or whether cleanups worked.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People living along Maharashtra's </a:t>
            </a:r>
            <a:r>
              <a:rPr lang="en-US" sz="10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river stretches</a:t>
            </a:r>
            <a:r>
              <a:rPr lang="en-US" sz="10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Mumbai region (Mithi, Ulhas), Pune (Mula-Mutha), Nagpur (Nag) and more. Also the city corporations, MPCB and NGT, who need evidence to act and to check contractors.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~4,250 MLD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sewage untreated every day (9,271 made, 5,024 treated; MPCB, Dec 2025)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 polluted stretches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the most of any state (CPCB 2025)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₹8 cr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spent on hyacinth removal, yet it persists; payments disputed (2026)</a:t>
            </a:r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Monthly samples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at ~173 river stations: one point every many km</a:t>
            </a:r>
            <a:endParaRPr lang="en-US" sz="1000" dirty="0"/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Lab results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come weeks later; no picture between stations</a:t>
            </a:r>
          </a:p>
          <a:p>
            <a:pPr marL="128016" indent="-128016">
              <a:spcAft>
                <a:spcPts val="300"/>
              </a:spcAft>
              <a:buChar char="•"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No independent check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that hyacinth removal or new STPs improved the river</a:t>
            </a:r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4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4,250 MLD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i="0" dirty="0" b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of sewage reaches Maharashtra's rivers untreated, every day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Dirty water flows on to homes, farms and fish downstream, and crores go into cleanups that no one can independently check.</a:t>
            </a:r>
            <a:endParaRPr lang="en-US" sz="1000" dirty="0"/>
          </a:p>
        </p:txBody>
      </p:sp>
      <p:sp>
        <p:nvSpPr>
          <p:cNvPr id="24" name="Sources"/>
          <p:cNvSpPr txBox="1"/>
          <p:nvPr/>
        </p:nvSpPr>
        <p:spPr>
          <a:xfrm>
            <a:off x="457200" y="4663440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>
                <a:solidFill>
                  <a:srgbClr val="6B7280"/>
                </a:solidFill>
                <a:latin typeface="Nirmala UI"/>
              </a:rPr>
              <a:t>Sources: MPCB monthly progress report, Dec 2025; CPCB polluted river stretches 2025 (via Drishti IAS); MPCB water bulletin, Jan 2026; Punekar News, Jun 2026; Free Press Journal,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Jal-drishti AI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checks every ~1 km of a city's rivers and lakes each month: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 and algae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vs normal, so boards know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where to sample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and if cleanups worked.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city, or any river or lake outline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Finds the channel; measures weed, turbidity and chlorophyll monthly vs 2019-2023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8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Stretch map, sample-first list, cleanup check, PDF and KML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Field trips and lab tests per station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Free open satellite data; one small server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One sample a month; results weeks later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 whole city in ~1.5 min; new image every 5 days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~173 river points for the whole state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Every ~1 km stretch: 158 in Pune alone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 i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0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Lab reports, no map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i="0" dirty="0" b="1">
                          <a:solidFill>
                            <a:srgbClr val="1F2937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Web map, ranked list, before/after check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Independent, repeatable evidence for cleanups. It shows Pune's floating weed rising from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~6% to ~29%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of river water every dry season in </a:t>
            </a:r>
            <a:r>
              <a:rPr lang="en-US" sz="95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both 2025 and 2026</a:t>
            </a: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: the before/after check that removal contracts lack.</a:t>
            </a:r>
            <a:endParaRPr lang="en-US" sz="1000" dirty="0"/>
          </a:p>
        </p:txBody>
      </p:sp>
      <p:pic>
        <p:nvPicPr>
          <p:cNvPr id="31" name="Picture 30" descr="app_p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1463040"/>
            <a:ext cx="1737360" cy="710510"/>
          </a:xfrm>
          <a:prstGeom prst="rect">
            <a:avLst/>
          </a:prstGeom>
          <a:ln>
            <a:solidFill>
              <a:srgbClr val="D9DEEA"/>
            </a:solidFill>
          </a:ln>
        </p:spPr>
      </p:pic>
      <p:sp>
        <p:nvSpPr>
          <p:cNvPr id="32" name="TextBox 31"/>
          <p:cNvSpPr txBox="1"/>
          <p:nvPr/>
        </p:nvSpPr>
        <p:spPr>
          <a:xfrm>
            <a:off x="2651760" y="2200982"/>
            <a:ext cx="17373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Working prototype: Pune rivers, Oct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BD9B5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0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Google Earth Engine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+ web map app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Sentinel-2 (10-20 m), ESA WorldCover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Method: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weed, turbidity, algae vs 2019-23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drone checks of hotspots; hyperspectral (EnMAP)</a:t>
            </a:r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Data: ₹0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(free Copernicus data)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Server: ~₹5,000 / month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 for all cities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pilot: under ₹1 lakh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, mostly water samples to check the flags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pilot with MPCB; compare flags with lab samples and calibrate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Mumbai, Thane, Nagpur; monthly report card for each river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1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12 months: </a:t>
            </a: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all 54 polluted stretches statewide</a:t>
            </a:r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2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 to approach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Maharashtra Pollution Control Board (MPCB)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Pune and Pimpri-Chinchwad municipal corporations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State River Rejuvenation Authority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MRSAC, Nagpur (state remote sensing centre)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162763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32" name="Demo link"/>
          <p:cNvSpPr txBox="1"/>
          <p:nvPr/>
        </p:nvSpPr>
        <p:spPr>
          <a:xfrm>
            <a:off x="4846320" y="1170432"/>
            <a:ext cx="3840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1">
                <a:solidFill>
                  <a:srgbClr val="1B2A5C"/>
                </a:solidFill>
                <a:latin typeface="Nirmala UI"/>
              </a:rPr>
              <a:t>Live prototype: </a:t>
            </a:r>
            <a:r>
              <a:rPr sz="1050" b="1">
                <a:solidFill>
                  <a:srgbClr val="F28C28"/>
                </a:solidFill>
                <a:latin typeface="Nirmala UI"/>
                <a:hlinkClick r:id="rId3"/>
              </a:rPr>
              <a:t>jal-drishti-enz2.onrender.com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Polluted river stretches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whole state list, checked every month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6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Weeks → mins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city screening vs monthly sampling and lab results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2800" b="1" dirty="0" i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158 vs 2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b="1" dirty="0" i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Points watched in Pune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river stretches vs monthly sampling points on the Mula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Earlier action on weed, algae and sewage outfalls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Cleaner water for people living downstream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Public, checkable evidence of cleanup spending</a:t>
            </a:r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Runs on free satellite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Low server cost fits MPCB or city budgets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Can be hosted by MRSAC; open-source code</a:t>
            </a:r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Any Indian city: national NWMP, global data</a:t>
            </a:r>
            <a:endParaRPr lang="en-US" sz="1000" dirty="0"/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Add a city in minutes; lakes and reservoirs too</a:t>
            </a:r>
          </a:p>
          <a:p>
            <a:pPr marL="118872" indent="-118872">
              <a:spcAft>
                <a:spcPts val="300"/>
              </a:spcAft>
              <a:buChar char="•"/>
            </a:pPr>
            <a:r>
              <a:rPr lang="en-US" sz="95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Next: drone checks of hotspots; hyperspectral types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0">
                <a:solidFill>
                  <a:srgbClr val="6B7280"/>
                </a:solidFill>
                <a:latin typeface="Nirmala UI"/>
              </a:rPr>
              <a:t>Sources: CPCB polluted river stretches 2025; CPCB reply in NGT OA 214/2024 (Mula sampled at two locations, monthly); Jal-drishti run for Pune, Oct 2026. Server cost is an estimate.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Sujal Chondekar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Lead developer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satellite analysis, web app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97480" y="11887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283464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2834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KM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Kshitij Mehrotra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44728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Developer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44728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B.Tech CSE, IIIT Nagpur · data and validation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594360" y="265176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100" dirty="0" i="0" b="1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SH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263347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 i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Dr. Swati Hira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895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Faculty mentor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089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80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Assistant Professor, CSE, IIIT Nagpur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840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i="0" dirty="0" b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Institute of Information Technology, Nagpur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900" i="0" dirty="0" b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Pune pilot with MPCB and the municipal corporations would let us test the satellite flags against water samples and turn them into a monthly report card for every river.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224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sujalchondhekar@gmail.com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Live demo: </a:t>
            </a:r>
            <a:r>
              <a:rPr lang="en-US" sz="1050" b="1" dirty="0" i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  <a:hlinkClick r:id="rId3"/>
              </a:rPr>
              <a:t>jal-drishti-enz2.onrender.com</a:t>
            </a:r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sp>
        <p:nvSpPr>
          <p:cNvPr id="46" name="TextBox 45"/>
          <p:cNvSpPr txBox="1"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Nirmala UI"/>
              </a:rPr>
              <a:t>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8C28"/>
      </a:hlink>
      <a:folHlink>
        <a:srgbClr val="F28C2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